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6" r:id="rId2"/>
    <p:sldId id="257" r:id="rId3"/>
    <p:sldId id="261"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8068E-3BE2-8F4A-B691-FDA65E79022C}" v="397" dt="2026-04-16T15:51:30.920"/>
    <p1510:client id="{7E1135E1-2F7F-E7E1-1D99-3975BD46B38D}" v="47" dt="2026-04-16T16:09:31.056"/>
    <p1510:client id="{845408BC-74AA-10D4-BE19-350F058C9DC1}" v="354" dt="2026-04-16T14:45:04.283"/>
    <p1510:client id="{8DF17162-AAFC-924A-217C-1285AC2354B1}" v="169" dt="2026-04-16T14:38:04.711"/>
    <p1510:client id="{90FF1A75-D2FA-3865-4D87-EE294C17DFFA}" v="80" dt="2026-04-16T03:10:26.752"/>
    <p1510:client id="{9EF04D59-B1BD-8648-E004-C70F6E22A039}" v="20" dt="2026-04-16T14:38:20.157"/>
    <p1510:client id="{A853A5A4-F7A3-2115-A389-1AD5244858BF}" v="38" dt="2026-04-16T14:58:48.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53771-CE15-4744-805C-2E305887EB85}" type="datetimeFigureOut">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870742-82EF-4A77-BA30-EC215EF2AF43}" type="slidenum">
              <a:t>‹#›</a:t>
            </a:fld>
            <a:endParaRPr lang="en-US"/>
          </a:p>
        </p:txBody>
      </p:sp>
    </p:spTree>
    <p:extLst>
      <p:ext uri="{BB962C8B-B14F-4D97-AF65-F5344CB8AC3E}">
        <p14:creationId xmlns:p14="http://schemas.microsoft.com/office/powerpoint/2010/main" val="3063824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for our AI project we focused on </a:t>
            </a:r>
            <a:r>
              <a:rPr lang="en-US" err="1">
                <a:ea typeface="Calibri"/>
                <a:cs typeface="Calibri"/>
              </a:rPr>
              <a:t>visualzing</a:t>
            </a:r>
            <a:r>
              <a:rPr lang="en-US">
                <a:ea typeface="Calibri"/>
                <a:cs typeface="Calibri"/>
              </a:rPr>
              <a:t> pathogenic proteins when being able to alter its amino acid sequences. For example </a:t>
            </a:r>
          </a:p>
          <a:p>
            <a:r>
              <a:rPr lang="en-US">
                <a:ea typeface="Calibri"/>
                <a:cs typeface="Calibri"/>
              </a:rPr>
              <a:t> as we all know from our previous JC and classes, huntingtons disease it attributed to the mutation of the huntingtin protein where an expanded CAG repeat leads to abnormally long polyq tracts causing the protein to misfold and aggregate but its not like they just sit there idealy they end up causing major disruptions in axonal transport, gene transcriptions etc. all important things  for neuronal survival and similarly with a-syn misfolding causes disrutpion in things such as </a:t>
            </a:r>
            <a:r>
              <a:rPr lang="en-US" err="1">
                <a:ea typeface="Calibri"/>
                <a:cs typeface="Calibri"/>
              </a:rPr>
              <a:t>vessicle</a:t>
            </a:r>
            <a:r>
              <a:rPr lang="en-US">
                <a:ea typeface="Calibri"/>
                <a:cs typeface="Calibri"/>
              </a:rPr>
              <a:t> trafficking. </a:t>
            </a:r>
            <a:r>
              <a:rPr lang="en-US"/>
              <a:t>So for pathogenic proteins such as huntingtin and A-syn our problem  was  in the fact that not only are they incredible small and hard to detect but their interactions with other molecules fluctuates, because with changing a single amino acid can literally change its ability to bind to other membranes, </a:t>
            </a:r>
            <a:r>
              <a:rPr lang="en-US" err="1"/>
              <a:t>vessicles</a:t>
            </a:r>
            <a:r>
              <a:rPr lang="en-US"/>
              <a:t> or even other proteins. And it can get particularly difficult to say okay this is the interaction </a:t>
            </a:r>
            <a:r>
              <a:rPr lang="en-US" err="1"/>
              <a:t>im</a:t>
            </a:r>
            <a:r>
              <a:rPr lang="en-US"/>
              <a:t> looking for because it’s a transient and constantly changing interaction</a:t>
            </a:r>
            <a:r>
              <a:rPr lang="en-US">
                <a:ea typeface="Calibri"/>
                <a:cs typeface="Calibri"/>
              </a:rPr>
              <a:t>. What we tried to address here is how can we make it easier to identify these structures that change morphology when damaged and how can being able to change/play around with the amino acids help with being able to essentially tag this protein with more detectable markers or even </a:t>
            </a:r>
            <a:r>
              <a:rPr lang="en-US" err="1">
                <a:ea typeface="Calibri"/>
                <a:cs typeface="Calibri"/>
              </a:rPr>
              <a:t>stabalize</a:t>
            </a:r>
            <a:r>
              <a:rPr lang="en-US">
                <a:ea typeface="Calibri"/>
                <a:cs typeface="Calibri"/>
              </a:rPr>
              <a:t> it or identify functioning regions . But my </a:t>
            </a:r>
            <a:r>
              <a:rPr lang="en-US" err="1">
                <a:ea typeface="Calibri"/>
                <a:cs typeface="Calibri"/>
              </a:rPr>
              <a:t>gorups</a:t>
            </a:r>
            <a:r>
              <a:rPr lang="en-US">
                <a:ea typeface="Calibri"/>
                <a:cs typeface="Calibri"/>
              </a:rPr>
              <a:t> members  will get into how we went about that solution.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9A870742-82EF-4A77-BA30-EC215EF2AF43}" type="slidenum">
              <a:t>2</a:t>
            </a:fld>
            <a:endParaRPr lang="en-US"/>
          </a:p>
        </p:txBody>
      </p:sp>
    </p:spTree>
    <p:extLst>
      <p:ext uri="{BB962C8B-B14F-4D97-AF65-F5344CB8AC3E}">
        <p14:creationId xmlns:p14="http://schemas.microsoft.com/office/powerpoint/2010/main" val="1782583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4/16/2026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9122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4/16/2026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451668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4/16/2026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74683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4/16/2026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723471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4/16/2026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67966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4/16/2026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48642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4/16/2026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840982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4/16/2026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081918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4/16/2026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425137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4/16/2026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26389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4/16/2026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965852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4/16/2026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31265821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tanakam79243/capstone_in_neuroscience.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tanakam79243"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4632" y="1072747"/>
            <a:ext cx="11699424" cy="3396915"/>
          </a:xfrm>
        </p:spPr>
        <p:txBody>
          <a:bodyPr>
            <a:normAutofit/>
          </a:bodyPr>
          <a:lstStyle/>
          <a:p>
            <a:pPr algn="l"/>
            <a:r>
              <a:rPr lang="en-US" sz="5400"/>
              <a:t>AI Assignment: </a:t>
            </a:r>
            <a:br>
              <a:rPr lang="en-US" sz="5400"/>
            </a:br>
            <a:r>
              <a:rPr lang="en-US" sz="5400"/>
              <a:t>Protein Amino Acid Visualizer</a:t>
            </a:r>
          </a:p>
        </p:txBody>
      </p:sp>
      <p:sp>
        <p:nvSpPr>
          <p:cNvPr id="3" name="Subtitle 2"/>
          <p:cNvSpPr>
            <a:spLocks noGrp="1"/>
          </p:cNvSpPr>
          <p:nvPr>
            <p:ph type="subTitle" idx="1"/>
          </p:nvPr>
        </p:nvSpPr>
        <p:spPr>
          <a:xfrm>
            <a:off x="489186" y="4473942"/>
            <a:ext cx="10178814" cy="1655762"/>
          </a:xfrm>
        </p:spPr>
        <p:txBody>
          <a:bodyPr vert="horz" lIns="91440" tIns="45720" rIns="91440" bIns="45720" rtlCol="0" anchor="t">
            <a:normAutofit fontScale="92500"/>
          </a:bodyPr>
          <a:lstStyle/>
          <a:p>
            <a:r>
              <a:rPr lang="en-US"/>
              <a:t>Tanaka, Soso, Olivia, Wasay, and Joy</a:t>
            </a:r>
          </a:p>
          <a:p>
            <a:endParaRPr lang="en-US"/>
          </a:p>
          <a:p>
            <a:r>
              <a:rPr lang="en-US">
                <a:ea typeface="+mn-lt"/>
                <a:cs typeface="+mn-lt"/>
                <a:hlinkClick r:id="rId2"/>
              </a:rPr>
              <a:t>https://github.com/tanakam79243/capstone_in_neuroscience.git</a:t>
            </a:r>
            <a:r>
              <a:rPr lang="en-US">
                <a:ea typeface="+mn-lt"/>
                <a:cs typeface="+mn-lt"/>
              </a:rPr>
              <a:t>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322E-DB6A-A398-38A7-CAD78D721B68}"/>
              </a:ext>
            </a:extLst>
          </p:cNvPr>
          <p:cNvSpPr>
            <a:spLocks noGrp="1"/>
          </p:cNvSpPr>
          <p:nvPr>
            <p:ph type="title"/>
          </p:nvPr>
        </p:nvSpPr>
        <p:spPr/>
        <p:txBody>
          <a:bodyPr/>
          <a:lstStyle/>
          <a:p>
            <a:r>
              <a:rPr lang="en-US"/>
              <a:t>Background: The Problem </a:t>
            </a:r>
          </a:p>
        </p:txBody>
      </p:sp>
      <p:sp>
        <p:nvSpPr>
          <p:cNvPr id="3" name="Content Placeholder 2">
            <a:extLst>
              <a:ext uri="{FF2B5EF4-FFF2-40B4-BE49-F238E27FC236}">
                <a16:creationId xmlns:a16="http://schemas.microsoft.com/office/drawing/2014/main" id="{B092E3AC-AAE3-3AD2-606A-E8B40FACBAA7}"/>
              </a:ext>
            </a:extLst>
          </p:cNvPr>
          <p:cNvSpPr>
            <a:spLocks noGrp="1"/>
          </p:cNvSpPr>
          <p:nvPr>
            <p:ph idx="1"/>
          </p:nvPr>
        </p:nvSpPr>
        <p:spPr>
          <a:xfrm>
            <a:off x="754621" y="2117077"/>
            <a:ext cx="10168128" cy="3694176"/>
          </a:xfrm>
        </p:spPr>
        <p:txBody>
          <a:bodyPr vert="horz" lIns="91440" tIns="45720" rIns="91440" bIns="45720" rtlCol="0" anchor="t">
            <a:normAutofit/>
          </a:bodyPr>
          <a:lstStyle/>
          <a:p>
            <a:pPr>
              <a:buFont typeface="Arial"/>
              <a:buChar char="•"/>
            </a:pPr>
            <a:r>
              <a:rPr lang="en-US" sz="2600"/>
              <a:t>Key Players : Huntingtin, A-syn, Lewy bodies</a:t>
            </a:r>
          </a:p>
          <a:p>
            <a:pPr lvl="1">
              <a:buFont typeface="Arial"/>
              <a:buChar char="•"/>
            </a:pPr>
            <a:r>
              <a:rPr lang="en-US" sz="2200"/>
              <a:t>CAG repeat expansion -&gt; Poly Q</a:t>
            </a:r>
          </a:p>
          <a:p>
            <a:pPr lvl="1">
              <a:buFont typeface="Arial"/>
              <a:buChar char="•"/>
            </a:pPr>
            <a:r>
              <a:rPr lang="en-US" sz="2200"/>
              <a:t>A-syn -&gt; misfolding -&gt; aggregates -&gt; Lewy bodies</a:t>
            </a:r>
          </a:p>
          <a:p>
            <a:pPr marL="457200" lvl="1" indent="0">
              <a:buNone/>
            </a:pPr>
            <a:r>
              <a:rPr lang="en-US" sz="2200"/>
              <a:t>Damages are functional and not always visible</a:t>
            </a:r>
          </a:p>
          <a:p>
            <a:pPr lvl="1"/>
            <a:r>
              <a:rPr lang="en-US" sz="2200"/>
              <a:t>Alters membrane dynamics</a:t>
            </a:r>
          </a:p>
          <a:p>
            <a:pPr lvl="1"/>
            <a:r>
              <a:rPr lang="en-US" sz="2200"/>
              <a:t>Scale, Interaction/dynamics and compilations</a:t>
            </a:r>
            <a:endParaRPr lang="en-US"/>
          </a:p>
        </p:txBody>
      </p:sp>
    </p:spTree>
    <p:extLst>
      <p:ext uri="{BB962C8B-B14F-4D97-AF65-F5344CB8AC3E}">
        <p14:creationId xmlns:p14="http://schemas.microsoft.com/office/powerpoint/2010/main" val="238364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8E58-41B4-8C15-8527-DCA47FF38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7D270-6F2B-E852-A9BC-BF3C164762F8}"/>
              </a:ext>
            </a:extLst>
          </p:cNvPr>
          <p:cNvSpPr>
            <a:spLocks noGrp="1"/>
          </p:cNvSpPr>
          <p:nvPr>
            <p:ph type="title"/>
          </p:nvPr>
        </p:nvSpPr>
        <p:spPr/>
        <p:txBody>
          <a:bodyPr/>
          <a:lstStyle/>
          <a:p>
            <a:r>
              <a:rPr lang="en-US"/>
              <a:t>Background: the Solution </a:t>
            </a:r>
          </a:p>
        </p:txBody>
      </p:sp>
      <p:sp>
        <p:nvSpPr>
          <p:cNvPr id="3" name="Content Placeholder 2">
            <a:extLst>
              <a:ext uri="{FF2B5EF4-FFF2-40B4-BE49-F238E27FC236}">
                <a16:creationId xmlns:a16="http://schemas.microsoft.com/office/drawing/2014/main" id="{A8220708-F9C0-E3F7-0550-FB272F65CE0B}"/>
              </a:ext>
            </a:extLst>
          </p:cNvPr>
          <p:cNvSpPr>
            <a:spLocks noGrp="1"/>
          </p:cNvSpPr>
          <p:nvPr>
            <p:ph idx="1"/>
          </p:nvPr>
        </p:nvSpPr>
        <p:spPr/>
        <p:txBody>
          <a:bodyPr vert="horz" lIns="91440" tIns="45720" rIns="91440" bIns="45720" rtlCol="0" anchor="t">
            <a:normAutofit/>
          </a:bodyPr>
          <a:lstStyle/>
          <a:p>
            <a:r>
              <a:rPr lang="en-US"/>
              <a:t>Protein Amino Acid Visualizer— creates a representation of the protein </a:t>
            </a:r>
          </a:p>
          <a:p>
            <a:pPr lvl="1">
              <a:buFont typeface="Courier New" panose="020B0604020202020204" pitchFamily="34" charset="0"/>
              <a:buChar char="o"/>
            </a:pPr>
            <a:r>
              <a:rPr lang="en-US"/>
              <a:t>Visual, structural features</a:t>
            </a:r>
          </a:p>
          <a:p>
            <a:pPr lvl="1">
              <a:buFont typeface="Courier New" panose="020B0604020202020204" pitchFamily="34" charset="0"/>
              <a:buChar char="o"/>
            </a:pPr>
            <a:r>
              <a:rPr lang="en-US"/>
              <a:t>Residue interactions</a:t>
            </a:r>
          </a:p>
          <a:p>
            <a:pPr lvl="1">
              <a:buFont typeface="Courier New" panose="020B0604020202020204" pitchFamily="34" charset="0"/>
              <a:buChar char="o"/>
            </a:pPr>
            <a:r>
              <a:rPr lang="en-US"/>
              <a:t>Interactions with cellular components</a:t>
            </a:r>
          </a:p>
          <a:p>
            <a:r>
              <a:rPr lang="en-US"/>
              <a:t>Bottom line: ability to easily/quickly understand how sequence changes translate to the cellular level</a:t>
            </a:r>
          </a:p>
        </p:txBody>
      </p:sp>
    </p:spTree>
    <p:extLst>
      <p:ext uri="{BB962C8B-B14F-4D97-AF65-F5344CB8AC3E}">
        <p14:creationId xmlns:p14="http://schemas.microsoft.com/office/powerpoint/2010/main" val="1339644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237C-8A3E-6006-E330-36F26F05B894}"/>
              </a:ext>
            </a:extLst>
          </p:cNvPr>
          <p:cNvSpPr>
            <a:spLocks noGrp="1"/>
          </p:cNvSpPr>
          <p:nvPr>
            <p:ph type="title"/>
          </p:nvPr>
        </p:nvSpPr>
        <p:spPr/>
        <p:txBody>
          <a:bodyPr/>
          <a:lstStyle/>
          <a:p>
            <a:r>
              <a:rPr lang="en-US"/>
              <a:t>Program Showcase</a:t>
            </a:r>
          </a:p>
        </p:txBody>
      </p:sp>
    </p:spTree>
    <p:extLst>
      <p:ext uri="{BB962C8B-B14F-4D97-AF65-F5344CB8AC3E}">
        <p14:creationId xmlns:p14="http://schemas.microsoft.com/office/powerpoint/2010/main" val="359586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BD066-273B-0A67-39B5-FF9DD1E08C8B}"/>
              </a:ext>
            </a:extLst>
          </p:cNvPr>
          <p:cNvSpPr>
            <a:spLocks noGrp="1"/>
          </p:cNvSpPr>
          <p:nvPr>
            <p:ph type="title"/>
          </p:nvPr>
        </p:nvSpPr>
        <p:spPr>
          <a:xfrm>
            <a:off x="868680" y="1709928"/>
            <a:ext cx="3099816" cy="1709928"/>
          </a:xfrm>
        </p:spPr>
        <p:txBody>
          <a:bodyPr anchor="t">
            <a:normAutofit/>
          </a:bodyPr>
          <a:lstStyle/>
          <a:p>
            <a:r>
              <a:rPr lang="en-US"/>
              <a:t>Sample Protein Fabrication</a:t>
            </a:r>
          </a:p>
        </p:txBody>
      </p:sp>
      <p:pic>
        <p:nvPicPr>
          <p:cNvPr id="4" name="Picture 3" descr="A screenshot of a phone&#10;&#10;AI-generated content may be incorrect.">
            <a:extLst>
              <a:ext uri="{FF2B5EF4-FFF2-40B4-BE49-F238E27FC236}">
                <a16:creationId xmlns:a16="http://schemas.microsoft.com/office/drawing/2014/main" id="{F4D5B707-D33A-6B02-E47D-53950C7CFDCD}"/>
              </a:ext>
            </a:extLst>
          </p:cNvPr>
          <p:cNvPicPr>
            <a:picLocks noChangeAspect="1"/>
          </p:cNvPicPr>
          <p:nvPr/>
        </p:nvPicPr>
        <p:blipFill>
          <a:blip r:embed="rId2"/>
          <a:stretch>
            <a:fillRect/>
          </a:stretch>
        </p:blipFill>
        <p:spPr>
          <a:xfrm>
            <a:off x="4965192" y="2487899"/>
            <a:ext cx="6729984" cy="2540569"/>
          </a:xfrm>
          <a:prstGeom prst="rect">
            <a:avLst/>
          </a:prstGeom>
          <a:noFill/>
        </p:spPr>
      </p:pic>
      <p:sp>
        <p:nvSpPr>
          <p:cNvPr id="3" name="Content Placeholder 2">
            <a:extLst>
              <a:ext uri="{FF2B5EF4-FFF2-40B4-BE49-F238E27FC236}">
                <a16:creationId xmlns:a16="http://schemas.microsoft.com/office/drawing/2014/main" id="{A6413920-947F-801B-B478-3C2E84A6FF1F}"/>
              </a:ext>
            </a:extLst>
          </p:cNvPr>
          <p:cNvSpPr>
            <a:spLocks noGrp="1"/>
          </p:cNvSpPr>
          <p:nvPr>
            <p:ph type="body" sz="half" idx="2"/>
          </p:nvPr>
        </p:nvSpPr>
        <p:spPr>
          <a:xfrm>
            <a:off x="868680" y="3429000"/>
            <a:ext cx="3099816" cy="2066544"/>
          </a:xfrm>
        </p:spPr>
        <p:txBody>
          <a:bodyPr vert="horz" lIns="91440" tIns="45720" rIns="91440" bIns="45720" rtlCol="0">
            <a:normAutofit/>
          </a:bodyPr>
          <a:lstStyle/>
          <a:p>
            <a:r>
              <a:rPr lang="en-US" sz="1700"/>
              <a:t>JSON template created that AI proceeds to "fill out."</a:t>
            </a:r>
          </a:p>
          <a:p>
            <a:pPr lvl="1">
              <a:buFont typeface="Courier New" panose="020B0604020202020204" pitchFamily="34" charset="0"/>
              <a:buChar char="o"/>
            </a:pPr>
            <a:r>
              <a:rPr lang="en-US" sz="1700"/>
              <a:t>Answers key questions for protein viewing in program</a:t>
            </a:r>
          </a:p>
          <a:p>
            <a:r>
              <a:rPr lang="en-US" sz="1700"/>
              <a:t>Sample demonstration: </a:t>
            </a:r>
            <a:r>
              <a:rPr lang="en-US" sz="1700" err="1"/>
              <a:t>PrP</a:t>
            </a:r>
            <a:r>
              <a:rPr lang="en-US" sz="1700" baseline="30000" err="1"/>
              <a:t>SC</a:t>
            </a:r>
            <a:endParaRPr lang="en-US" sz="1700" baseline="30000"/>
          </a:p>
        </p:txBody>
      </p:sp>
      <p:sp>
        <p:nvSpPr>
          <p:cNvPr id="9" name="Date Placeholder 4">
            <a:extLst>
              <a:ext uri="{FF2B5EF4-FFF2-40B4-BE49-F238E27FC236}">
                <a16:creationId xmlns:a16="http://schemas.microsoft.com/office/drawing/2014/main" id="{A20ACB4D-C401-7F16-3E57-D34E95334DA4}"/>
              </a:ext>
            </a:extLst>
          </p:cNvPr>
          <p:cNvSpPr>
            <a:spLocks noGrp="1"/>
          </p:cNvSpPr>
          <p:nvPr>
            <p:ph type="dt" sz="half" idx="10"/>
          </p:nvPr>
        </p:nvSpPr>
        <p:spPr>
          <a:xfrm>
            <a:off x="868680" y="6356350"/>
            <a:ext cx="2743200" cy="365125"/>
          </a:xfrm>
        </p:spPr>
        <p:txBody>
          <a:bodyPr/>
          <a:lstStyle/>
          <a:p>
            <a:pPr>
              <a:spcAft>
                <a:spcPts val="600"/>
              </a:spcAft>
            </a:pPr>
            <a:fld id="{3C72EAAA-2BD8-4632-821E-0AE02E8CC65C}" type="datetime1">
              <a:pPr>
                <a:spcAft>
                  <a:spcPts val="600"/>
                </a:spcAft>
              </a:pPr>
              <a:t>4/16/2026</a:t>
            </a:fld>
            <a:endParaRPr lang="en-US"/>
          </a:p>
        </p:txBody>
      </p:sp>
      <p:sp>
        <p:nvSpPr>
          <p:cNvPr id="11" name="Footer Placeholder 5">
            <a:extLst>
              <a:ext uri="{FF2B5EF4-FFF2-40B4-BE49-F238E27FC236}">
                <a16:creationId xmlns:a16="http://schemas.microsoft.com/office/drawing/2014/main" id="{D189DD6B-FDCD-C26A-0B0A-4BAE533FE552}"/>
              </a:ext>
            </a:extLst>
          </p:cNvPr>
          <p:cNvSpPr>
            <a:spLocks noGrp="1"/>
          </p:cNvSpPr>
          <p:nvPr>
            <p:ph type="ftr" sz="quarter" idx="11"/>
          </p:nvPr>
        </p:nvSpPr>
        <p:spPr>
          <a:xfrm>
            <a:off x="4038600" y="6356350"/>
            <a:ext cx="4114800" cy="365125"/>
          </a:xfrm>
        </p:spPr>
        <p:txBody>
          <a:bodyPr/>
          <a:lstStyle/>
          <a:p>
            <a:endParaRPr lang="en-US"/>
          </a:p>
        </p:txBody>
      </p:sp>
      <p:sp>
        <p:nvSpPr>
          <p:cNvPr id="13" name="Slide Number Placeholder 6">
            <a:extLst>
              <a:ext uri="{FF2B5EF4-FFF2-40B4-BE49-F238E27FC236}">
                <a16:creationId xmlns:a16="http://schemas.microsoft.com/office/drawing/2014/main" id="{8CD41CAF-0CC4-CD56-1A09-64A38C6392CC}"/>
              </a:ext>
            </a:extLst>
          </p:cNvPr>
          <p:cNvSpPr>
            <a:spLocks noGrp="1"/>
          </p:cNvSpPr>
          <p:nvPr>
            <p:ph type="sldNum" sz="quarter" idx="12"/>
          </p:nvPr>
        </p:nvSpPr>
        <p:spPr>
          <a:xfrm>
            <a:off x="8610600" y="6356350"/>
            <a:ext cx="2743200" cy="365125"/>
          </a:xfrm>
        </p:spPr>
        <p:txBody>
          <a:bodyPr/>
          <a:lstStyle/>
          <a:p>
            <a:pPr>
              <a:spcAft>
                <a:spcPts val="600"/>
              </a:spcAft>
            </a:pPr>
            <a:fld id="{A65A5C87-DF58-40C8-B092-1DE63DB4547E}" type="slidenum">
              <a:rPr lang="en-US" dirty="0"/>
              <a:pPr>
                <a:spcAft>
                  <a:spcPts val="600"/>
                </a:spcAft>
              </a:pPr>
              <a:t>5</a:t>
            </a:fld>
            <a:endParaRPr lang="en-US"/>
          </a:p>
        </p:txBody>
      </p:sp>
    </p:spTree>
    <p:extLst>
      <p:ext uri="{BB962C8B-B14F-4D97-AF65-F5344CB8AC3E}">
        <p14:creationId xmlns:p14="http://schemas.microsoft.com/office/powerpoint/2010/main" val="1034604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F41AC-C534-4D3A-7F09-CF2C8B8CA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A8093-9103-5F91-D95F-5B3B25202BF0}"/>
              </a:ext>
            </a:extLst>
          </p:cNvPr>
          <p:cNvSpPr>
            <a:spLocks noGrp="1"/>
          </p:cNvSpPr>
          <p:nvPr>
            <p:ph type="title"/>
          </p:nvPr>
        </p:nvSpPr>
        <p:spPr>
          <a:xfrm>
            <a:off x="734568" y="528587"/>
            <a:ext cx="10168128" cy="1179576"/>
          </a:xfrm>
        </p:spPr>
        <p:txBody>
          <a:bodyPr/>
          <a:lstStyle/>
          <a:p>
            <a:r>
              <a:rPr lang="en-US"/>
              <a:t>Coding the Assignment</a:t>
            </a:r>
          </a:p>
        </p:txBody>
      </p:sp>
      <p:sp>
        <p:nvSpPr>
          <p:cNvPr id="3" name="Content Placeholder 2">
            <a:extLst>
              <a:ext uri="{FF2B5EF4-FFF2-40B4-BE49-F238E27FC236}">
                <a16:creationId xmlns:a16="http://schemas.microsoft.com/office/drawing/2014/main" id="{198BD03E-CF9C-183F-D0D6-5500A91B0C87}"/>
              </a:ext>
            </a:extLst>
          </p:cNvPr>
          <p:cNvSpPr>
            <a:spLocks noGrp="1"/>
          </p:cNvSpPr>
          <p:nvPr>
            <p:ph idx="1"/>
          </p:nvPr>
        </p:nvSpPr>
        <p:spPr>
          <a:xfrm>
            <a:off x="554095" y="2244077"/>
            <a:ext cx="8282452" cy="4247628"/>
          </a:xfrm>
        </p:spPr>
        <p:txBody>
          <a:bodyPr vert="horz" lIns="91440" tIns="45720" rIns="91440" bIns="45720" rtlCol="0" anchor="t">
            <a:normAutofit/>
          </a:bodyPr>
          <a:lstStyle/>
          <a:p>
            <a:pPr marL="0" indent="0">
              <a:buNone/>
            </a:pPr>
            <a:r>
              <a:rPr lang="en-US" sz="3600"/>
              <a:t>Tools Used: </a:t>
            </a:r>
          </a:p>
          <a:p>
            <a:pPr lvl="1">
              <a:buFont typeface="Courier New" panose="020B0604020202020204" pitchFamily="34" charset="0"/>
              <a:buChar char="o"/>
            </a:pPr>
            <a:r>
              <a:rPr lang="en-US" sz="3200"/>
              <a:t>Codex</a:t>
            </a:r>
          </a:p>
          <a:p>
            <a:pPr lvl="2">
              <a:buFont typeface="Wingdings" panose="020B0604020202020204" pitchFamily="34" charset="0"/>
              <a:buChar char="§"/>
            </a:pPr>
            <a:r>
              <a:rPr lang="en-US" sz="2800"/>
              <a:t>Used "precise" prompting </a:t>
            </a:r>
          </a:p>
          <a:p>
            <a:pPr lvl="1">
              <a:buFont typeface="Courier New" panose="020B0604020202020204" pitchFamily="34" charset="0"/>
              <a:buChar char="o"/>
            </a:pPr>
            <a:r>
              <a:rPr lang="en-US" sz="3200"/>
              <a:t>Understanding file types</a:t>
            </a:r>
          </a:p>
          <a:p>
            <a:pPr lvl="2">
              <a:buFont typeface="Wingdings" panose="020B0604020202020204" pitchFamily="34" charset="0"/>
              <a:buChar char="§"/>
            </a:pPr>
            <a:r>
              <a:rPr lang="en-US" sz="2800"/>
              <a:t>.</a:t>
            </a:r>
            <a:r>
              <a:rPr lang="en-US" sz="2800" err="1"/>
              <a:t>json</a:t>
            </a:r>
            <a:r>
              <a:rPr lang="en-US" sz="2800"/>
              <a:t>, .html, .</a:t>
            </a:r>
            <a:r>
              <a:rPr lang="en-US" sz="2800" err="1"/>
              <a:t>css</a:t>
            </a:r>
            <a:r>
              <a:rPr lang="en-US" sz="2800"/>
              <a:t>, .md</a:t>
            </a:r>
          </a:p>
          <a:p>
            <a:pPr lvl="1">
              <a:buFont typeface="Courier New" panose="020B0604020202020204" pitchFamily="34" charset="0"/>
              <a:buChar char="o"/>
            </a:pPr>
            <a:r>
              <a:rPr lang="en-US" sz="3200" err="1">
                <a:hlinkClick r:id="rId2"/>
              </a:rPr>
              <a:t>Github</a:t>
            </a:r>
            <a:endParaRPr lang="en-US" sz="3200" err="1"/>
          </a:p>
          <a:p>
            <a:pPr lvl="2">
              <a:buFont typeface="Wingdings" panose="020B0604020202020204" pitchFamily="34" charset="0"/>
              <a:buChar char="§"/>
            </a:pPr>
            <a:r>
              <a:rPr lang="en-US" sz="2800"/>
              <a:t>Storing the files</a:t>
            </a:r>
          </a:p>
        </p:txBody>
      </p:sp>
      <p:pic>
        <p:nvPicPr>
          <p:cNvPr id="4" name="Picture 3" descr="GitHub - Wikipedia">
            <a:extLst>
              <a:ext uri="{FF2B5EF4-FFF2-40B4-BE49-F238E27FC236}">
                <a16:creationId xmlns:a16="http://schemas.microsoft.com/office/drawing/2014/main" id="{537140AB-B633-95F3-D311-5BBEB52C8D8C}"/>
              </a:ext>
            </a:extLst>
          </p:cNvPr>
          <p:cNvPicPr>
            <a:picLocks noChangeAspect="1"/>
          </p:cNvPicPr>
          <p:nvPr/>
        </p:nvPicPr>
        <p:blipFill>
          <a:blip r:embed="rId3"/>
          <a:srcRect t="724" r="1010" b="3320"/>
          <a:stretch>
            <a:fillRect/>
          </a:stretch>
        </p:blipFill>
        <p:spPr>
          <a:xfrm>
            <a:off x="9341663" y="4369543"/>
            <a:ext cx="2216757" cy="2087263"/>
          </a:xfrm>
          <a:prstGeom prst="rect">
            <a:avLst/>
          </a:prstGeom>
        </p:spPr>
      </p:pic>
      <p:pic>
        <p:nvPicPr>
          <p:cNvPr id="5" name="Picture 4" descr="A blue and white cloud with a white arrow and a white arrow&#10;&#10;AI-generated content may be incorrect.">
            <a:extLst>
              <a:ext uri="{FF2B5EF4-FFF2-40B4-BE49-F238E27FC236}">
                <a16:creationId xmlns:a16="http://schemas.microsoft.com/office/drawing/2014/main" id="{DC55C454-A257-B741-8948-39DDDF5FDC23}"/>
              </a:ext>
            </a:extLst>
          </p:cNvPr>
          <p:cNvPicPr>
            <a:picLocks noChangeAspect="1"/>
          </p:cNvPicPr>
          <p:nvPr/>
        </p:nvPicPr>
        <p:blipFill>
          <a:blip r:embed="rId4"/>
          <a:srcRect t="-1493" r="10155" b="5863"/>
          <a:stretch>
            <a:fillRect/>
          </a:stretch>
        </p:blipFill>
        <p:spPr>
          <a:xfrm>
            <a:off x="7226468" y="2249690"/>
            <a:ext cx="2271738" cy="2356353"/>
          </a:xfrm>
          <a:prstGeom prst="rect">
            <a:avLst/>
          </a:prstGeom>
        </p:spPr>
      </p:pic>
    </p:spTree>
    <p:extLst>
      <p:ext uri="{BB962C8B-B14F-4D97-AF65-F5344CB8AC3E}">
        <p14:creationId xmlns:p14="http://schemas.microsoft.com/office/powerpoint/2010/main" val="298302202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1</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AccentBoxVTI</vt:lpstr>
      <vt:lpstr>AI Assignment:  Protein Amino Acid Visualizer</vt:lpstr>
      <vt:lpstr>Background: The Problem </vt:lpstr>
      <vt:lpstr>Background: the Solution </vt:lpstr>
      <vt:lpstr>Program Showcase</vt:lpstr>
      <vt:lpstr>Sample Protein Fabrication</vt:lpstr>
      <vt:lpstr>Coding the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Assignment:  Protein Amino Acid Visualizer</dc:title>
  <dc:creator/>
  <cp:revision>2</cp:revision>
  <dcterms:created xsi:type="dcterms:W3CDTF">2026-04-13T18:35:42Z</dcterms:created>
  <dcterms:modified xsi:type="dcterms:W3CDTF">2026-04-16T17:59:45Z</dcterms:modified>
</cp:coreProperties>
</file>